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04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86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3F7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468880" cy="502920"/>
          </a:xfrm>
          <a:prstGeom prst="rect">
            <a:avLst/>
          </a:prstGeom>
          <a:solidFill>
            <a:srgbClr val="4F8FE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OOP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" y="1510392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chemeClr val="bg1"/>
                </a:solidFill>
              </a:rPr>
              <a:t>CMS</a:t>
            </a:r>
          </a:p>
        </p:txBody>
      </p:sp>
      <p:sp>
        <p:nvSpPr>
          <p:cNvPr id="7" name="Text 5"/>
          <p:cNvSpPr/>
          <p:nvPr/>
        </p:nvSpPr>
        <p:spPr>
          <a:xfrm>
            <a:off x="3474720" y="10972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Management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474720" y="2712848"/>
            <a:ext cx="5029200" cy="32004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Object Oriented Programming Project - Built Using C++ &amp; File Handling</a:t>
            </a:r>
          </a:p>
        </p:txBody>
      </p:sp>
      <p:sp>
        <p:nvSpPr>
          <p:cNvPr id="10" name="Shape 8"/>
          <p:cNvSpPr/>
          <p:nvPr/>
        </p:nvSpPr>
        <p:spPr>
          <a:xfrm>
            <a:off x="3474720" y="3657600"/>
            <a:ext cx="1234440" cy="502920"/>
          </a:xfrm>
          <a:prstGeom prst="rect">
            <a:avLst/>
          </a:prstGeom>
          <a:solidFill>
            <a:srgbClr val="4F8FE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Role-Based Login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657600"/>
            <a:ext cx="1234440" cy="502920"/>
          </a:xfrm>
          <a:prstGeom prst="rect">
            <a:avLst/>
          </a:prstGeom>
          <a:solidFill>
            <a:srgbClr val="4F8FE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 Persistence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1234440" cy="502920"/>
          </a:xfrm>
          <a:prstGeom prst="rect">
            <a:avLst/>
          </a:prstGeom>
          <a:solidFill>
            <a:srgbClr val="4F8FE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Logging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3657600"/>
            <a:ext cx="1234440" cy="502920"/>
          </a:xfrm>
          <a:prstGeom prst="rect">
            <a:avLst/>
          </a:prstGeom>
          <a:solidFill>
            <a:srgbClr val="4F8FE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0" y="3657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Complaint Tracking</a:t>
            </a:r>
            <a:endParaRPr lang="en-US" sz="11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B1AEFA0-3C34-0688-D32A-2EB04FB3B611}"/>
              </a:ext>
            </a:extLst>
          </p:cNvPr>
          <p:cNvSpPr/>
          <p:nvPr/>
        </p:nvSpPr>
        <p:spPr>
          <a:xfrm>
            <a:off x="320040" y="3249384"/>
            <a:ext cx="2827263" cy="133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Group members: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Name: </a:t>
            </a:r>
            <a:r>
              <a:rPr lang="en-US" sz="1600" dirty="0">
                <a:solidFill>
                  <a:schemeClr val="bg1"/>
                </a:solidFill>
              </a:rPr>
              <a:t>Muhammad Amaan Akbar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Enrollment</a:t>
            </a:r>
            <a:r>
              <a:rPr lang="en-US" sz="1600" dirty="0">
                <a:solidFill>
                  <a:schemeClr val="bg1"/>
                </a:solidFill>
              </a:rPr>
              <a:t>: 09-131252-043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Name</a:t>
            </a:r>
            <a:r>
              <a:rPr lang="en-US" sz="1600" dirty="0">
                <a:solidFill>
                  <a:schemeClr val="bg1"/>
                </a:solidFill>
              </a:rPr>
              <a:t>: Muhammad Jazib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Enrollment</a:t>
            </a:r>
            <a:r>
              <a:rPr lang="en-US" sz="1600" dirty="0">
                <a:solidFill>
                  <a:schemeClr val="bg1"/>
                </a:solidFill>
              </a:rPr>
              <a:t>: 09-131252-049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0972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" y="1170432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1430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Project Overview </a:t>
            </a:r>
            <a:r>
              <a:rPr lang="en-US" sz="1600" dirty="0"/>
              <a:t>📘</a:t>
            </a:r>
            <a:r>
              <a:rPr lang="en-US" sz="1400" b="1" dirty="0">
                <a:solidFill>
                  <a:srgbClr val="1E2761"/>
                </a:solidFill>
              </a:rPr>
              <a:t>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BE"/>
                </a:solidFill>
              </a:rPr>
              <a:t>Purpose, goals, and system introduction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64008" cy="10972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01768" y="1170432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0176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11430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OOP Concepts Used  </a:t>
            </a:r>
            <a:r>
              <a:rPr lang="en-US" sz="1600" dirty="0"/>
              <a:t>⚙</a:t>
            </a:r>
          </a:p>
        </p:txBody>
      </p:sp>
      <p:sp>
        <p:nvSpPr>
          <p:cNvPr id="15" name="Text 13"/>
          <p:cNvSpPr/>
          <p:nvPr/>
        </p:nvSpPr>
        <p:spPr>
          <a:xfrm>
            <a:off x="5623560" y="1508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BE"/>
                </a:solidFill>
              </a:rPr>
              <a:t>Classes, inheritance, encapsulation, and more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64008" cy="10972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1208" y="2450592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460705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System Architecture </a:t>
            </a:r>
            <a:r>
              <a:rPr lang="en-US" sz="1600" dirty="0"/>
              <a:t>🧩</a:t>
            </a:r>
            <a:r>
              <a:rPr lang="en-US" sz="1400" b="1" dirty="0">
                <a:solidFill>
                  <a:srgbClr val="1E2761"/>
                </a:solidFill>
              </a:rPr>
              <a:t>  </a:t>
            </a:r>
            <a:endParaRPr lang="en-US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BE"/>
                </a:solidFill>
              </a:rPr>
              <a:t>Class hierarchy and design structure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2286000"/>
            <a:ext cx="64008" cy="10972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01768" y="2450592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01768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24231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Key Features </a:t>
            </a:r>
            <a:r>
              <a:rPr lang="en-US" sz="1600" dirty="0"/>
              <a:t>✨</a:t>
            </a:r>
          </a:p>
        </p:txBody>
      </p:sp>
      <p:sp>
        <p:nvSpPr>
          <p:cNvPr id="27" name="Text 25"/>
          <p:cNvSpPr/>
          <p:nvPr/>
        </p:nvSpPr>
        <p:spPr>
          <a:xfrm>
            <a:off x="562356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BE"/>
                </a:solidFill>
              </a:rPr>
              <a:t>User and admin functionality breakdown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1208" y="3730752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37033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Data &amp; Persistence </a:t>
            </a:r>
            <a:r>
              <a:rPr lang="en-US" sz="1600" dirty="0"/>
              <a:t>💾</a:t>
            </a:r>
          </a:p>
        </p:txBody>
      </p:sp>
      <p:sp>
        <p:nvSpPr>
          <p:cNvPr id="33" name="Text 31"/>
          <p:cNvSpPr/>
          <p:nvPr/>
        </p:nvSpPr>
        <p:spPr>
          <a:xfrm>
            <a:off x="1143000" y="4069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BE"/>
                </a:solidFill>
              </a:rPr>
              <a:t>File I/O and audit logging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566160"/>
            <a:ext cx="64008" cy="10972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01768" y="3730752"/>
            <a:ext cx="502920" cy="50292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0176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23560" y="37033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E2761"/>
                </a:solidFill>
              </a:rPr>
              <a:t>System Flow </a:t>
            </a:r>
            <a:r>
              <a:rPr lang="en-US" sz="1600" dirty="0"/>
              <a:t>🔄</a:t>
            </a:r>
          </a:p>
        </p:txBody>
      </p:sp>
      <p:sp>
        <p:nvSpPr>
          <p:cNvPr id="39" name="Text 37"/>
          <p:cNvSpPr/>
          <p:nvPr/>
        </p:nvSpPr>
        <p:spPr>
          <a:xfrm>
            <a:off x="5623560" y="4069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BE"/>
                </a:solidFill>
              </a:rPr>
              <a:t>How the system works end-to-end</a:t>
            </a:r>
            <a:endParaRPr lang="en-US" sz="1000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9076FD1-8977-4B03-ACCC-D20D2713A697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18289"/>
          <a:ext cx="7886700" cy="36576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3657025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1503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What is the CMS?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A C++ console-based application that allows users to file, track, and manage complaints digitally through secure role-based dashboards.</a:t>
            </a:r>
          </a:p>
        </p:txBody>
      </p:sp>
      <p:sp>
        <p:nvSpPr>
          <p:cNvPr id="6" name="Text 4"/>
          <p:cNvSpPr/>
          <p:nvPr/>
        </p:nvSpPr>
        <p:spPr>
          <a:xfrm>
            <a:off x="365760" y="26746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</a:rPr>
              <a:t>Project Goals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3169158"/>
            <a:ext cx="2781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🎯 OOP Principles</a:t>
            </a:r>
          </a:p>
          <a:p>
            <a:r>
              <a:rPr lang="en-US" sz="1200" dirty="0"/>
              <a:t>Classes, inheritance, encapsulation</a:t>
            </a:r>
          </a:p>
        </p:txBody>
      </p:sp>
      <p:sp>
        <p:nvSpPr>
          <p:cNvPr id="10" name="Text 8"/>
          <p:cNvSpPr/>
          <p:nvPr/>
        </p:nvSpPr>
        <p:spPr>
          <a:xfrm>
            <a:off x="2834640" y="3205353"/>
            <a:ext cx="2301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🔐 Secure Login</a:t>
            </a:r>
          </a:p>
          <a:p>
            <a:r>
              <a:rPr lang="en-US" sz="1200" dirty="0"/>
              <a:t>Role-based authentication</a:t>
            </a:r>
          </a:p>
        </p:txBody>
      </p:sp>
      <p:sp>
        <p:nvSpPr>
          <p:cNvPr id="12" name="Text 10"/>
          <p:cNvSpPr/>
          <p:nvPr/>
        </p:nvSpPr>
        <p:spPr>
          <a:xfrm>
            <a:off x="365760" y="3787140"/>
            <a:ext cx="21717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💾 File Persistence</a:t>
            </a:r>
          </a:p>
          <a:p>
            <a:r>
              <a:rPr lang="en-US" sz="1200" dirty="0"/>
              <a:t>Data stored using file handling</a:t>
            </a:r>
          </a:p>
        </p:txBody>
      </p:sp>
      <p:sp>
        <p:nvSpPr>
          <p:cNvPr id="14" name="Text 12"/>
          <p:cNvSpPr/>
          <p:nvPr/>
        </p:nvSpPr>
        <p:spPr>
          <a:xfrm>
            <a:off x="2834640" y="3810000"/>
            <a:ext cx="21717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📋 Complaint Lifecycle</a:t>
            </a:r>
          </a:p>
          <a:p>
            <a:r>
              <a:rPr lang="en-US" sz="1200" dirty="0"/>
              <a:t>Register, track, manage</a:t>
            </a:r>
          </a:p>
        </p:txBody>
      </p:sp>
      <p:sp>
        <p:nvSpPr>
          <p:cNvPr id="16" name="Text 14"/>
          <p:cNvSpPr/>
          <p:nvPr/>
        </p:nvSpPr>
        <p:spPr>
          <a:xfrm>
            <a:off x="731520" y="44759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1463040" cy="118872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76072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User Roles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1005840"/>
            <a:ext cx="1463040" cy="1188720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7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40664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Complaint Categories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0" y="2377440"/>
            <a:ext cx="1463040" cy="118872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3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76072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Priority Levels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06640" y="2377440"/>
            <a:ext cx="1463040" cy="1188720"/>
          </a:xfrm>
          <a:prstGeom prst="rect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3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40664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Data Files Persisted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3749040"/>
            <a:ext cx="3291840" cy="100584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072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4069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C++ · STL Vectors · File Streams</a:t>
            </a:r>
            <a:br>
              <a:rPr lang="en-US" sz="1000" dirty="0"/>
            </a:br>
            <a:r>
              <a:rPr lang="en-US" sz="1000" dirty="0"/>
              <a:t>ANSI Colors · Windows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3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OOP Concepts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22020"/>
            <a:ext cx="3552713" cy="130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22020"/>
            <a:ext cx="3552713" cy="438912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199" y="922020"/>
            <a:ext cx="31127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Classes &amp; Objects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1" y="1488948"/>
            <a:ext cx="111337" cy="109728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251" y="1370076"/>
            <a:ext cx="292099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Login class manages authentication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688580"/>
            <a:ext cx="109728" cy="109728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8993" y="1584198"/>
            <a:ext cx="29941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Dashboard class manages system operations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1" y="1903580"/>
            <a:ext cx="111337" cy="109728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373" y="1821818"/>
            <a:ext cx="2928617" cy="257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Complaint, User, </a:t>
            </a:r>
            <a:r>
              <a:rPr lang="en-US" sz="1000" dirty="0" err="1">
                <a:solidFill>
                  <a:srgbClr val="333333"/>
                </a:solidFill>
              </a:rPr>
              <a:t>Auditlog</a:t>
            </a:r>
            <a:r>
              <a:rPr lang="en-US" sz="1000" dirty="0">
                <a:solidFill>
                  <a:srgbClr val="333333"/>
                </a:solidFill>
              </a:rPr>
              <a:t> used as data objects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29640"/>
            <a:ext cx="4114800" cy="1567513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/>
              <a:t>class Dashboard : public Login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54880" y="929640"/>
            <a:ext cx="4114800" cy="438912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9296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Inheritance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0648" y="1909352"/>
            <a:ext cx="109728" cy="109728"/>
          </a:xfrm>
          <a:prstGeom prst="ellipse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02352" y="1787641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Dashboard inherits all Login functionalities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27939" y="2123687"/>
            <a:ext cx="109728" cy="109728"/>
          </a:xfrm>
          <a:prstGeom prst="ellipse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02352" y="197297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Reduces code duplication</a:t>
            </a:r>
          </a:p>
        </p:txBody>
      </p:sp>
      <p:sp>
        <p:nvSpPr>
          <p:cNvPr id="20" name="Shape 18"/>
          <p:cNvSpPr/>
          <p:nvPr/>
        </p:nvSpPr>
        <p:spPr>
          <a:xfrm>
            <a:off x="4927939" y="2322082"/>
            <a:ext cx="109728" cy="109728"/>
          </a:xfrm>
          <a:prstGeom prst="ellipse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217724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Improves code reusability </a:t>
            </a:r>
          </a:p>
        </p:txBody>
      </p:sp>
      <p:sp>
        <p:nvSpPr>
          <p:cNvPr id="22" name="Shape 20"/>
          <p:cNvSpPr/>
          <p:nvPr/>
        </p:nvSpPr>
        <p:spPr>
          <a:xfrm>
            <a:off x="320040" y="2346960"/>
            <a:ext cx="3566160" cy="130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331720"/>
            <a:ext cx="3566160" cy="438912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331720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Encapsulation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" y="2898648"/>
            <a:ext cx="109728" cy="109728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" y="2779776"/>
            <a:ext cx="2975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Sensitive data stored inside classes</a:t>
            </a:r>
          </a:p>
        </p:txBody>
      </p:sp>
      <p:sp>
        <p:nvSpPr>
          <p:cNvPr id="27" name="Shape 25"/>
          <p:cNvSpPr/>
          <p:nvPr/>
        </p:nvSpPr>
        <p:spPr>
          <a:xfrm>
            <a:off x="484632" y="3105964"/>
            <a:ext cx="109728" cy="109728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7511" y="2999232"/>
            <a:ext cx="290247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Public interface exposes only menu-driven functions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" y="3336332"/>
            <a:ext cx="109728" cy="109728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7512" y="3223260"/>
            <a:ext cx="2990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Data accessed only through public functions </a:t>
            </a:r>
          </a:p>
        </p:txBody>
      </p:sp>
      <p:sp>
        <p:nvSpPr>
          <p:cNvPr id="31" name="Shape 29"/>
          <p:cNvSpPr/>
          <p:nvPr/>
        </p:nvSpPr>
        <p:spPr>
          <a:xfrm>
            <a:off x="4770120" y="2583171"/>
            <a:ext cx="4114800" cy="1213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70120" y="2583171"/>
            <a:ext cx="4114800" cy="438912"/>
          </a:xfrm>
          <a:prstGeom prst="rect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07280" y="2583171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File I/O &amp; Persistence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4712" y="3150099"/>
            <a:ext cx="109728" cy="109728"/>
          </a:xfrm>
          <a:prstGeom prst="ellipse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97780" y="3031227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Data stored permanently using text files</a:t>
            </a:r>
          </a:p>
        </p:txBody>
      </p:sp>
      <p:sp>
        <p:nvSpPr>
          <p:cNvPr id="36" name="Shape 34"/>
          <p:cNvSpPr/>
          <p:nvPr/>
        </p:nvSpPr>
        <p:spPr>
          <a:xfrm>
            <a:off x="4934712" y="3358887"/>
            <a:ext cx="109728" cy="109728"/>
          </a:xfrm>
          <a:prstGeom prst="ellipse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97780" y="3233919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/>
              <a:t>ifstream</a:t>
            </a:r>
            <a:r>
              <a:rPr lang="en-US" sz="1000" dirty="0"/>
              <a:t> and </a:t>
            </a:r>
            <a:r>
              <a:rPr lang="en-US" sz="1100" dirty="0" err="1"/>
              <a:t>ofstream</a:t>
            </a:r>
            <a:r>
              <a:rPr lang="en-US" sz="1000" dirty="0"/>
              <a:t> used for file operations</a:t>
            </a:r>
          </a:p>
        </p:txBody>
      </p:sp>
      <p:sp>
        <p:nvSpPr>
          <p:cNvPr id="38" name="Shape 36"/>
          <p:cNvSpPr/>
          <p:nvPr/>
        </p:nvSpPr>
        <p:spPr>
          <a:xfrm>
            <a:off x="4934712" y="3567675"/>
            <a:ext cx="109728" cy="109728"/>
          </a:xfrm>
          <a:prstGeom prst="ellipse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97780" y="3448803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save() </a:t>
            </a:r>
            <a:r>
              <a:rPr lang="en-US" sz="1000" dirty="0"/>
              <a:t>and </a:t>
            </a:r>
            <a:r>
              <a:rPr lang="en-US" sz="1100" dirty="0"/>
              <a:t>load() </a:t>
            </a:r>
            <a:r>
              <a:rPr lang="en-US" sz="1000" dirty="0"/>
              <a:t>methods manage records</a:t>
            </a: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8AA92F09-2A27-BE02-FF80-A071BE873F70}"/>
              </a:ext>
            </a:extLst>
          </p:cNvPr>
          <p:cNvSpPr/>
          <p:nvPr/>
        </p:nvSpPr>
        <p:spPr>
          <a:xfrm>
            <a:off x="4919472" y="1488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CODE:</a:t>
            </a:r>
          </a:p>
          <a:p>
            <a:r>
              <a:rPr lang="en-US" sz="1200" dirty="0"/>
              <a:t>         class Dashboard : public Login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0BF0AB6-DCD2-E36F-CDBA-DD7F0E885472}"/>
              </a:ext>
            </a:extLst>
          </p:cNvPr>
          <p:cNvSpPr/>
          <p:nvPr/>
        </p:nvSpPr>
        <p:spPr>
          <a:xfrm>
            <a:off x="7914939" y="1551432"/>
            <a:ext cx="570693" cy="264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C1ED59B-D49B-9E8D-617D-F6566107126F}"/>
              </a:ext>
            </a:extLst>
          </p:cNvPr>
          <p:cNvSpPr/>
          <p:nvPr/>
        </p:nvSpPr>
        <p:spPr>
          <a:xfrm>
            <a:off x="7738551" y="2109216"/>
            <a:ext cx="929961" cy="2743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Dashboard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DD379C8-B3F8-83B3-93A5-D84015844876}"/>
              </a:ext>
            </a:extLst>
          </p:cNvPr>
          <p:cNvCxnSpPr>
            <a:stCxn id="42" idx="0"/>
            <a:endCxn id="41" idx="2"/>
          </p:cNvCxnSpPr>
          <p:nvPr/>
        </p:nvCxnSpPr>
        <p:spPr>
          <a:xfrm flipH="1" flipV="1">
            <a:off x="8200286" y="1815686"/>
            <a:ext cx="3246" cy="293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Shape 20">
            <a:extLst>
              <a:ext uri="{FF2B5EF4-FFF2-40B4-BE49-F238E27FC236}">
                <a16:creationId xmlns:a16="http://schemas.microsoft.com/office/drawing/2014/main" id="{9DD1B7CB-600B-EF49-0163-24B9ADDD2273}"/>
              </a:ext>
            </a:extLst>
          </p:cNvPr>
          <p:cNvSpPr/>
          <p:nvPr/>
        </p:nvSpPr>
        <p:spPr>
          <a:xfrm>
            <a:off x="312420" y="3756660"/>
            <a:ext cx="3566160" cy="130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2E389FD9-D676-9316-0AF0-3173A707DF7E}"/>
              </a:ext>
            </a:extLst>
          </p:cNvPr>
          <p:cNvSpPr/>
          <p:nvPr/>
        </p:nvSpPr>
        <p:spPr>
          <a:xfrm>
            <a:off x="312419" y="3772040"/>
            <a:ext cx="3560333" cy="423532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D2327543-3345-8A95-CB35-6E4CD8907074}"/>
              </a:ext>
            </a:extLst>
          </p:cNvPr>
          <p:cNvSpPr/>
          <p:nvPr/>
        </p:nvSpPr>
        <p:spPr>
          <a:xfrm>
            <a:off x="449580" y="3756660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bg1"/>
                </a:solidFill>
              </a:rPr>
              <a:t>Abstraction</a:t>
            </a:r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A22DA351-6ADF-FBE5-894A-71B17AB7845D}"/>
              </a:ext>
            </a:extLst>
          </p:cNvPr>
          <p:cNvSpPr/>
          <p:nvPr/>
        </p:nvSpPr>
        <p:spPr>
          <a:xfrm>
            <a:off x="477012" y="4323588"/>
            <a:ext cx="109728" cy="109728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3F8A7793-4B78-D68A-30A9-8A1DE29B43C0}"/>
              </a:ext>
            </a:extLst>
          </p:cNvPr>
          <p:cNvSpPr/>
          <p:nvPr/>
        </p:nvSpPr>
        <p:spPr>
          <a:xfrm>
            <a:off x="659892" y="4204716"/>
            <a:ext cx="2975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Complex operations divided into simple functions:</a:t>
            </a: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54F77212-77B2-D81B-8253-B9E145B3DB6D}"/>
              </a:ext>
            </a:extLst>
          </p:cNvPr>
          <p:cNvSpPr/>
          <p:nvPr/>
        </p:nvSpPr>
        <p:spPr>
          <a:xfrm>
            <a:off x="659891" y="4424172"/>
            <a:ext cx="2902479" cy="604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. Login()                                      . </a:t>
            </a:r>
            <a:r>
              <a:rPr lang="en-US" sz="1000" dirty="0" err="1"/>
              <a:t>adminDashboard</a:t>
            </a:r>
            <a:r>
              <a:rPr lang="en-US" sz="1000" dirty="0"/>
              <a:t>()</a:t>
            </a:r>
            <a:br>
              <a:rPr lang="en-US" sz="1000" dirty="0"/>
            </a:br>
            <a:r>
              <a:rPr lang="en-US" sz="1000" dirty="0"/>
              <a:t>. </a:t>
            </a:r>
            <a:r>
              <a:rPr lang="en-US" sz="1000" dirty="0" err="1"/>
              <a:t>registerComplaint</a:t>
            </a:r>
            <a:r>
              <a:rPr lang="en-US" sz="1000" dirty="0"/>
              <a:t>()                . </a:t>
            </a:r>
            <a:r>
              <a:rPr lang="en-US" sz="1000" dirty="0" err="1"/>
              <a:t>showStatistics</a:t>
            </a:r>
            <a:r>
              <a:rPr lang="en-US" sz="1000" dirty="0"/>
              <a:t>()</a:t>
            </a: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8B628B6-B3EB-3EA7-1593-9D886661CFC7}"/>
              </a:ext>
            </a:extLst>
          </p:cNvPr>
          <p:cNvSpPr/>
          <p:nvPr/>
        </p:nvSpPr>
        <p:spPr>
          <a:xfrm>
            <a:off x="-982980" y="4949953"/>
            <a:ext cx="731520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79A8BF91-BCF7-AB00-7E01-75717D86BB8B}"/>
              </a:ext>
            </a:extLst>
          </p:cNvPr>
          <p:cNvSpPr/>
          <p:nvPr/>
        </p:nvSpPr>
        <p:spPr>
          <a:xfrm>
            <a:off x="4786210" y="3924291"/>
            <a:ext cx="4114800" cy="117169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30">
            <a:extLst>
              <a:ext uri="{FF2B5EF4-FFF2-40B4-BE49-F238E27FC236}">
                <a16:creationId xmlns:a16="http://schemas.microsoft.com/office/drawing/2014/main" id="{32A16FB3-B023-6DF4-2753-0E6D5B75A027}"/>
              </a:ext>
            </a:extLst>
          </p:cNvPr>
          <p:cNvSpPr/>
          <p:nvPr/>
        </p:nvSpPr>
        <p:spPr>
          <a:xfrm>
            <a:off x="4786210" y="3889406"/>
            <a:ext cx="4114800" cy="438912"/>
          </a:xfrm>
          <a:prstGeom prst="rect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BC3E65FA-E99C-1E5B-FDBB-8B4BA604D281}"/>
              </a:ext>
            </a:extLst>
          </p:cNvPr>
          <p:cNvSpPr/>
          <p:nvPr/>
        </p:nvSpPr>
        <p:spPr>
          <a:xfrm>
            <a:off x="4923370" y="388940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STL Vectors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65" name="Shape 32">
            <a:extLst>
              <a:ext uri="{FF2B5EF4-FFF2-40B4-BE49-F238E27FC236}">
                <a16:creationId xmlns:a16="http://schemas.microsoft.com/office/drawing/2014/main" id="{94304D40-688B-9E12-DFFE-15F6DAA80EF2}"/>
              </a:ext>
            </a:extLst>
          </p:cNvPr>
          <p:cNvSpPr/>
          <p:nvPr/>
        </p:nvSpPr>
        <p:spPr>
          <a:xfrm>
            <a:off x="4950802" y="4407113"/>
            <a:ext cx="109728" cy="109728"/>
          </a:xfrm>
          <a:prstGeom prst="ellipse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ABD83664-5D18-1BD3-8F80-975886E1D04F}"/>
              </a:ext>
            </a:extLst>
          </p:cNvPr>
          <p:cNvSpPr/>
          <p:nvPr/>
        </p:nvSpPr>
        <p:spPr>
          <a:xfrm>
            <a:off x="5120640" y="4347236"/>
            <a:ext cx="3566160" cy="663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vector&lt;Complaint&gt; complaints;</a:t>
            </a:r>
            <a:br>
              <a:rPr lang="en-US" sz="1000" dirty="0"/>
            </a:br>
            <a:r>
              <a:rPr lang="en-US" sz="1000" dirty="0"/>
              <a:t>vector&lt;</a:t>
            </a:r>
            <a:r>
              <a:rPr lang="en-US" sz="1000" dirty="0" err="1"/>
              <a:t>AuditLog</a:t>
            </a:r>
            <a:r>
              <a:rPr lang="en-US" sz="1000" dirty="0"/>
              <a:t>&gt; </a:t>
            </a:r>
            <a:r>
              <a:rPr lang="en-US" sz="1000" dirty="0" err="1"/>
              <a:t>auditLogs</a:t>
            </a:r>
            <a:r>
              <a:rPr lang="en-US" sz="1000" dirty="0"/>
              <a:t>;</a:t>
            </a:r>
          </a:p>
          <a:p>
            <a:r>
              <a:rPr lang="en-US" sz="1000" dirty="0"/>
              <a:t>Dynamic storage of complaints and logs</a:t>
            </a:r>
          </a:p>
          <a:p>
            <a:r>
              <a:rPr lang="en-US" sz="1000" dirty="0"/>
              <a:t>Efficient data management using STL containers</a:t>
            </a:r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C922BDF1-8159-ECA6-2AE3-A1E5D35371F7}"/>
              </a:ext>
            </a:extLst>
          </p:cNvPr>
          <p:cNvSpPr/>
          <p:nvPr/>
        </p:nvSpPr>
        <p:spPr>
          <a:xfrm>
            <a:off x="4950802" y="4706070"/>
            <a:ext cx="109728" cy="109728"/>
          </a:xfrm>
          <a:prstGeom prst="ellipse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86CBEB83-99CC-62CC-2DBA-109E6E7E53C9}"/>
              </a:ext>
            </a:extLst>
          </p:cNvPr>
          <p:cNvSpPr/>
          <p:nvPr/>
        </p:nvSpPr>
        <p:spPr>
          <a:xfrm>
            <a:off x="5120640" y="45346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73" name="Shape 32">
            <a:extLst>
              <a:ext uri="{FF2B5EF4-FFF2-40B4-BE49-F238E27FC236}">
                <a16:creationId xmlns:a16="http://schemas.microsoft.com/office/drawing/2014/main" id="{C3B5416F-063E-755D-46DC-97AE2FD19421}"/>
              </a:ext>
            </a:extLst>
          </p:cNvPr>
          <p:cNvSpPr/>
          <p:nvPr/>
        </p:nvSpPr>
        <p:spPr>
          <a:xfrm>
            <a:off x="4950272" y="4559513"/>
            <a:ext cx="109728" cy="109728"/>
          </a:xfrm>
          <a:prstGeom prst="ellipse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32">
            <a:extLst>
              <a:ext uri="{FF2B5EF4-FFF2-40B4-BE49-F238E27FC236}">
                <a16:creationId xmlns:a16="http://schemas.microsoft.com/office/drawing/2014/main" id="{9730FB33-11A8-76AD-53B5-101987D40FBD}"/>
              </a:ext>
            </a:extLst>
          </p:cNvPr>
          <p:cNvSpPr/>
          <p:nvPr/>
        </p:nvSpPr>
        <p:spPr>
          <a:xfrm>
            <a:off x="4950802" y="4858276"/>
            <a:ext cx="109728" cy="109728"/>
          </a:xfrm>
          <a:prstGeom prst="ellipse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23">
            <a:extLst>
              <a:ext uri="{FF2B5EF4-FFF2-40B4-BE49-F238E27FC236}">
                <a16:creationId xmlns:a16="http://schemas.microsoft.com/office/drawing/2014/main" id="{5A0AC865-69ED-C12B-2FF3-0175CFAF3F5D}"/>
              </a:ext>
            </a:extLst>
          </p:cNvPr>
          <p:cNvSpPr/>
          <p:nvPr/>
        </p:nvSpPr>
        <p:spPr>
          <a:xfrm>
            <a:off x="477012" y="4615407"/>
            <a:ext cx="109728" cy="109728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23">
            <a:extLst>
              <a:ext uri="{FF2B5EF4-FFF2-40B4-BE49-F238E27FC236}">
                <a16:creationId xmlns:a16="http://schemas.microsoft.com/office/drawing/2014/main" id="{8596092E-5634-BF37-8073-AE520EDF64C5}"/>
              </a:ext>
            </a:extLst>
          </p:cNvPr>
          <p:cNvSpPr/>
          <p:nvPr/>
        </p:nvSpPr>
        <p:spPr>
          <a:xfrm>
            <a:off x="477012" y="4760934"/>
            <a:ext cx="109728" cy="109728"/>
          </a:xfrm>
          <a:prstGeom prst="ellipse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914400"/>
          </a:xfrm>
          <a:prstGeom prst="rect">
            <a:avLst/>
          </a:prstGeom>
          <a:solidFill>
            <a:srgbClr val="2E3F7F"/>
          </a:solidFill>
          <a:ln w="12700">
            <a:solidFill>
              <a:srgbClr val="BBC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46120" y="1033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46120" y="1344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Authentication · User Store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addUser · deleteUser · login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1874520"/>
            <a:ext cx="0" cy="320040"/>
          </a:xfrm>
          <a:prstGeom prst="line">
            <a:avLst/>
          </a:prstGeom>
          <a:noFill/>
          <a:ln w="25400">
            <a:solidFill>
              <a:srgbClr val="4F8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1901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DBE"/>
                </a:solidFill>
              </a:rPr>
              <a:t>extends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2194560"/>
            <a:ext cx="4023360" cy="914400"/>
          </a:xfrm>
          <a:prstGeom prst="rect">
            <a:avLst/>
          </a:prstGeom>
          <a:solidFill>
            <a:srgbClr val="4F8FE8"/>
          </a:solidFill>
          <a:ln w="12700">
            <a:solidFill>
              <a:srgbClr val="BBC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 (inherits Login)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578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Complaints · AuditLogs · All UI Menus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userDashboard · adminDashboard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3749040"/>
            <a:ext cx="2560320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BBC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Complaint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id · trackingNo · status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category · priority · save/load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3749040"/>
            <a:ext cx="2560320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BBC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username · password · role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save · load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3749040"/>
            <a:ext cx="2560320" cy="914400"/>
          </a:xfrm>
          <a:prstGeom prst="rect">
            <a:avLst/>
          </a:prstGeom>
          <a:solidFill>
            <a:srgbClr val="3A7BD5"/>
          </a:solidFill>
          <a:ln w="12700">
            <a:solidFill>
              <a:srgbClr val="BBCCE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AuditLog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timestamp · actor · action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AEEF8"/>
                </a:solidFill>
              </a:rPr>
              <a:t>save · load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3017520"/>
            <a:ext cx="0" cy="731520"/>
          </a:xfrm>
          <a:prstGeom prst="line">
            <a:avLst/>
          </a:prstGeom>
          <a:noFill/>
          <a:ln w="19050">
            <a:solidFill>
              <a:srgbClr val="6B7DB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108960"/>
            <a:ext cx="0" cy="640080"/>
          </a:xfrm>
          <a:prstGeom prst="line">
            <a:avLst/>
          </a:prstGeom>
          <a:noFill/>
          <a:ln w="19050">
            <a:solidFill>
              <a:srgbClr val="6B7DB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83680" y="3017520"/>
            <a:ext cx="1097280" cy="731520"/>
          </a:xfrm>
          <a:prstGeom prst="line">
            <a:avLst/>
          </a:prstGeom>
          <a:noFill/>
          <a:ln w="19050">
            <a:solidFill>
              <a:srgbClr val="6B7DB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2880" y="4709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DBE"/>
                </a:solidFill>
              </a:rPr>
              <a:t>complaints.txt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91840" y="4709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DBE"/>
                </a:solidFill>
              </a:rPr>
              <a:t>users.txt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4709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DBE"/>
                </a:solidFill>
              </a:rPr>
              <a:t>audit.txt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User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6216"/>
            <a:ext cx="4168140" cy="710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6216"/>
            <a:ext cx="45719" cy="710184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094232"/>
            <a:ext cx="411480" cy="4114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94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5765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📝 File a Complaint</a:t>
            </a:r>
            <a:endParaRPr lang="en-US" sz="1300" b="1" dirty="0"/>
          </a:p>
        </p:txBody>
      </p:sp>
      <p:sp>
        <p:nvSpPr>
          <p:cNvPr id="9" name="Text 7"/>
          <p:cNvSpPr/>
          <p:nvPr/>
        </p:nvSpPr>
        <p:spPr>
          <a:xfrm>
            <a:off x="1005840" y="1295400"/>
            <a:ext cx="3406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Users can register complaints with category, priority, and description.</a:t>
            </a: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CD38D46C-B467-8E27-848C-6ECB74FC2899}"/>
              </a:ext>
            </a:extLst>
          </p:cNvPr>
          <p:cNvSpPr/>
          <p:nvPr/>
        </p:nvSpPr>
        <p:spPr>
          <a:xfrm>
            <a:off x="320040" y="1816608"/>
            <a:ext cx="4168140" cy="6888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F64553E3-7CAD-D05B-4B41-12F716059FB4}"/>
              </a:ext>
            </a:extLst>
          </p:cNvPr>
          <p:cNvSpPr/>
          <p:nvPr/>
        </p:nvSpPr>
        <p:spPr>
          <a:xfrm>
            <a:off x="315468" y="1816608"/>
            <a:ext cx="50291" cy="688848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F28DA835-344C-1876-8108-8C1D76A78D50}"/>
              </a:ext>
            </a:extLst>
          </p:cNvPr>
          <p:cNvSpPr/>
          <p:nvPr/>
        </p:nvSpPr>
        <p:spPr>
          <a:xfrm>
            <a:off x="475488" y="1923288"/>
            <a:ext cx="411480" cy="4114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6D158AAA-4ECC-917A-C7F7-650A76F3A7D6}"/>
              </a:ext>
            </a:extLst>
          </p:cNvPr>
          <p:cNvSpPr/>
          <p:nvPr/>
        </p:nvSpPr>
        <p:spPr>
          <a:xfrm>
            <a:off x="475488" y="1923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753B5336-81F1-9F63-3381-D27B69A2E9BA}"/>
              </a:ext>
            </a:extLst>
          </p:cNvPr>
          <p:cNvSpPr/>
          <p:nvPr/>
        </p:nvSpPr>
        <p:spPr>
          <a:xfrm>
            <a:off x="1005840" y="188671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✏ Edit Complaint</a:t>
            </a:r>
            <a:endParaRPr lang="en-US" sz="1300" b="1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E2F86086-85E8-B6B8-ABD8-99BC242283A0}"/>
              </a:ext>
            </a:extLst>
          </p:cNvPr>
          <p:cNvSpPr/>
          <p:nvPr/>
        </p:nvSpPr>
        <p:spPr>
          <a:xfrm>
            <a:off x="1005840" y="2124456"/>
            <a:ext cx="3406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Pending complaints can be updated before admin review.</a:t>
            </a:r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6AF53D55-0795-60AE-6282-A04C440C09FC}"/>
              </a:ext>
            </a:extLst>
          </p:cNvPr>
          <p:cNvSpPr/>
          <p:nvPr/>
        </p:nvSpPr>
        <p:spPr>
          <a:xfrm>
            <a:off x="320040" y="2670048"/>
            <a:ext cx="4168140" cy="6873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078BF488-EC99-C0FC-0925-D7A888D040A2}"/>
              </a:ext>
            </a:extLst>
          </p:cNvPr>
          <p:cNvSpPr/>
          <p:nvPr/>
        </p:nvSpPr>
        <p:spPr>
          <a:xfrm>
            <a:off x="320040" y="2668524"/>
            <a:ext cx="45719" cy="688848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0851FD9B-3A57-2E96-345A-69586E2DF464}"/>
              </a:ext>
            </a:extLst>
          </p:cNvPr>
          <p:cNvSpPr/>
          <p:nvPr/>
        </p:nvSpPr>
        <p:spPr>
          <a:xfrm>
            <a:off x="475488" y="2775204"/>
            <a:ext cx="411480" cy="4114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303DB94D-EDE6-1E3E-96C0-CEAD547F09A4}"/>
              </a:ext>
            </a:extLst>
          </p:cNvPr>
          <p:cNvSpPr/>
          <p:nvPr/>
        </p:nvSpPr>
        <p:spPr>
          <a:xfrm>
            <a:off x="475488" y="27752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CD3890F4-E3CA-AD38-7F9D-E01611680FEE}"/>
              </a:ext>
            </a:extLst>
          </p:cNvPr>
          <p:cNvSpPr/>
          <p:nvPr/>
        </p:nvSpPr>
        <p:spPr>
          <a:xfrm>
            <a:off x="1005840" y="273862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📂 View Complaints</a:t>
            </a: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5BFD2D3C-CA2A-A4C3-26AF-499D9AD8529F}"/>
              </a:ext>
            </a:extLst>
          </p:cNvPr>
          <p:cNvSpPr/>
          <p:nvPr/>
        </p:nvSpPr>
        <p:spPr>
          <a:xfrm>
            <a:off x="1005840" y="2976372"/>
            <a:ext cx="3406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Users can filter complaints by status and view admin notes.</a:t>
            </a:r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0E2EAC97-DAA0-9182-ED28-4E03785CD12E}"/>
              </a:ext>
            </a:extLst>
          </p:cNvPr>
          <p:cNvSpPr/>
          <p:nvPr/>
        </p:nvSpPr>
        <p:spPr>
          <a:xfrm>
            <a:off x="320040" y="3497580"/>
            <a:ext cx="4168140" cy="673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AC456151-6CFA-822E-CCED-269252510C37}"/>
              </a:ext>
            </a:extLst>
          </p:cNvPr>
          <p:cNvSpPr/>
          <p:nvPr/>
        </p:nvSpPr>
        <p:spPr>
          <a:xfrm>
            <a:off x="320040" y="3497578"/>
            <a:ext cx="45719" cy="673609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10BE4FB0-71F9-3A00-E38D-6170E163AC3E}"/>
              </a:ext>
            </a:extLst>
          </p:cNvPr>
          <p:cNvSpPr/>
          <p:nvPr/>
        </p:nvSpPr>
        <p:spPr>
          <a:xfrm>
            <a:off x="475488" y="3589020"/>
            <a:ext cx="411480" cy="4114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C84E8A55-7EE9-A61D-CB6A-30BFB7935E34}"/>
              </a:ext>
            </a:extLst>
          </p:cNvPr>
          <p:cNvSpPr/>
          <p:nvPr/>
        </p:nvSpPr>
        <p:spPr>
          <a:xfrm>
            <a:off x="475488" y="35890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973CAE0A-2F48-9FA4-2380-092DB5C79836}"/>
              </a:ext>
            </a:extLst>
          </p:cNvPr>
          <p:cNvSpPr/>
          <p:nvPr/>
        </p:nvSpPr>
        <p:spPr>
          <a:xfrm>
            <a:off x="1005840" y="355244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🔍 Search Complaints</a:t>
            </a:r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00D0609E-DE83-6FDC-A392-53110B288D54}"/>
              </a:ext>
            </a:extLst>
          </p:cNvPr>
          <p:cNvSpPr/>
          <p:nvPr/>
        </p:nvSpPr>
        <p:spPr>
          <a:xfrm>
            <a:off x="1005840" y="3790188"/>
            <a:ext cx="3406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Keyword-based search for quick complaint lookup.</a:t>
            </a:r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63636C43-D2C3-C446-06C7-0AEBB6831C99}"/>
              </a:ext>
            </a:extLst>
          </p:cNvPr>
          <p:cNvSpPr/>
          <p:nvPr/>
        </p:nvSpPr>
        <p:spPr>
          <a:xfrm>
            <a:off x="320040" y="4296156"/>
            <a:ext cx="4168140" cy="746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3">
            <a:extLst>
              <a:ext uri="{FF2B5EF4-FFF2-40B4-BE49-F238E27FC236}">
                <a16:creationId xmlns:a16="http://schemas.microsoft.com/office/drawing/2014/main" id="{1BD515D6-B39A-4543-45CB-7FBBF285AC6F}"/>
              </a:ext>
            </a:extLst>
          </p:cNvPr>
          <p:cNvSpPr/>
          <p:nvPr/>
        </p:nvSpPr>
        <p:spPr>
          <a:xfrm>
            <a:off x="320040" y="4296156"/>
            <a:ext cx="45719" cy="74676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77A9DEC9-46D5-41DD-31B6-A90CE90CE43C}"/>
              </a:ext>
            </a:extLst>
          </p:cNvPr>
          <p:cNvSpPr/>
          <p:nvPr/>
        </p:nvSpPr>
        <p:spPr>
          <a:xfrm>
            <a:off x="475488" y="4460748"/>
            <a:ext cx="411480" cy="4114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FE57E95A-BE55-4AEA-29C9-B8FB4F620107}"/>
              </a:ext>
            </a:extLst>
          </p:cNvPr>
          <p:cNvSpPr/>
          <p:nvPr/>
        </p:nvSpPr>
        <p:spPr>
          <a:xfrm>
            <a:off x="475488" y="44607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0A671B5D-944F-6CCD-190E-7770600E8355}"/>
              </a:ext>
            </a:extLst>
          </p:cNvPr>
          <p:cNvSpPr/>
          <p:nvPr/>
        </p:nvSpPr>
        <p:spPr>
          <a:xfrm>
            <a:off x="1005840" y="442417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🎫 Track Complaint</a:t>
            </a:r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BF539C89-9C9E-4136-C8E7-A8CC73AA3A52}"/>
              </a:ext>
            </a:extLst>
          </p:cNvPr>
          <p:cNvSpPr/>
          <p:nvPr/>
        </p:nvSpPr>
        <p:spPr>
          <a:xfrm>
            <a:off x="1005840" y="4661916"/>
            <a:ext cx="3406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Track complaint status using unique CMS tracking number.</a:t>
            </a:r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4F4C3EC2-F0E5-AF6E-7627-1AFAC8D91627}"/>
              </a:ext>
            </a:extLst>
          </p:cNvPr>
          <p:cNvSpPr/>
          <p:nvPr/>
        </p:nvSpPr>
        <p:spPr>
          <a:xfrm>
            <a:off x="4754880" y="1035558"/>
            <a:ext cx="4168140" cy="710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DB3922A1-7457-5A22-3851-F1B1112348B0}"/>
              </a:ext>
            </a:extLst>
          </p:cNvPr>
          <p:cNvSpPr/>
          <p:nvPr/>
        </p:nvSpPr>
        <p:spPr>
          <a:xfrm>
            <a:off x="4754880" y="1035558"/>
            <a:ext cx="45719" cy="710184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4">
            <a:extLst>
              <a:ext uri="{FF2B5EF4-FFF2-40B4-BE49-F238E27FC236}">
                <a16:creationId xmlns:a16="http://schemas.microsoft.com/office/drawing/2014/main" id="{A6F0636E-C54C-123C-4732-97417236250A}"/>
              </a:ext>
            </a:extLst>
          </p:cNvPr>
          <p:cNvSpPr/>
          <p:nvPr/>
        </p:nvSpPr>
        <p:spPr>
          <a:xfrm>
            <a:off x="4910328" y="1163574"/>
            <a:ext cx="411480" cy="41148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8E9D1155-EEC3-65BB-BD9F-A30CCE4A8E5B}"/>
              </a:ext>
            </a:extLst>
          </p:cNvPr>
          <p:cNvSpPr/>
          <p:nvPr/>
        </p:nvSpPr>
        <p:spPr>
          <a:xfrm>
            <a:off x="4910328" y="116357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CCABF033-DD46-CB69-6AB9-167E4EE5357A}"/>
              </a:ext>
            </a:extLst>
          </p:cNvPr>
          <p:cNvSpPr/>
          <p:nvPr/>
        </p:nvSpPr>
        <p:spPr>
          <a:xfrm>
            <a:off x="5440680" y="1126998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/>
              <a:t>🗑 Delete Complaint</a:t>
            </a:r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F8817EDD-2114-F464-BC32-02788CB411AD}"/>
              </a:ext>
            </a:extLst>
          </p:cNvPr>
          <p:cNvSpPr/>
          <p:nvPr/>
        </p:nvSpPr>
        <p:spPr>
          <a:xfrm>
            <a:off x="5440680" y="1364742"/>
            <a:ext cx="34061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Users can delete their own pending complaints securely.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00E73AF-8826-2616-D947-50DFE7B77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410" y="1816608"/>
            <a:ext cx="2471730" cy="3243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Admin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00584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bg1"/>
                </a:solidFill>
              </a:rPr>
              <a:t>📋 View &amp; Filter Complaints</a:t>
            </a:r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Admins can filter complaints by status and priority.</a:t>
            </a:r>
          </a:p>
        </p:txBody>
      </p:sp>
      <p:sp>
        <p:nvSpPr>
          <p:cNvPr id="8" name="Shape 6"/>
          <p:cNvSpPr/>
          <p:nvPr/>
        </p:nvSpPr>
        <p:spPr>
          <a:xfrm>
            <a:off x="3227832" y="1005840"/>
            <a:ext cx="2834640" cy="100584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27832" y="1005840"/>
            <a:ext cx="2834640" cy="457200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005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bg1"/>
                </a:solidFill>
              </a:rPr>
              <a:t>✅ Confirm Complaint</a:t>
            </a:r>
          </a:p>
        </p:txBody>
      </p:sp>
      <p:sp>
        <p:nvSpPr>
          <p:cNvPr id="11" name="Text 9"/>
          <p:cNvSpPr/>
          <p:nvPr/>
        </p:nvSpPr>
        <p:spPr>
          <a:xfrm>
            <a:off x="3337560" y="153619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Approve complaints and attach admin notes.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2337054"/>
            <a:ext cx="2834640" cy="100584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337054"/>
            <a:ext cx="2834640" cy="457200"/>
          </a:xfrm>
          <a:prstGeom prst="rect">
            <a:avLst/>
          </a:prstGeom>
          <a:solidFill>
            <a:srgbClr val="E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337054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bg1"/>
                </a:solidFill>
              </a:rPr>
              <a:t>❌ Reject Complaint</a:t>
            </a:r>
          </a:p>
        </p:txBody>
      </p:sp>
      <p:sp>
        <p:nvSpPr>
          <p:cNvPr id="15" name="Text 13"/>
          <p:cNvSpPr/>
          <p:nvPr/>
        </p:nvSpPr>
        <p:spPr>
          <a:xfrm>
            <a:off x="384048" y="2867406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Reject complaints with proper reason and feedback.</a:t>
            </a:r>
          </a:p>
        </p:txBody>
      </p:sp>
      <p:sp>
        <p:nvSpPr>
          <p:cNvPr id="16" name="Shape 14"/>
          <p:cNvSpPr/>
          <p:nvPr/>
        </p:nvSpPr>
        <p:spPr>
          <a:xfrm>
            <a:off x="3238500" y="2334768"/>
            <a:ext cx="2834640" cy="987552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38500" y="2334768"/>
            <a:ext cx="2834640" cy="45720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48228" y="233476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bg1"/>
                </a:solidFill>
              </a:rPr>
              <a:t>📊 Statistics Report</a:t>
            </a:r>
          </a:p>
        </p:txBody>
      </p:sp>
      <p:sp>
        <p:nvSpPr>
          <p:cNvPr id="19" name="Text 17"/>
          <p:cNvSpPr/>
          <p:nvPr/>
        </p:nvSpPr>
        <p:spPr>
          <a:xfrm>
            <a:off x="3348228" y="2865120"/>
            <a:ext cx="2615184" cy="391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Generate complaint statistics using ASCII charts.</a:t>
            </a:r>
          </a:p>
        </p:txBody>
      </p:sp>
      <p:sp>
        <p:nvSpPr>
          <p:cNvPr id="20" name="Shape 18"/>
          <p:cNvSpPr/>
          <p:nvPr/>
        </p:nvSpPr>
        <p:spPr>
          <a:xfrm>
            <a:off x="274320" y="3668268"/>
            <a:ext cx="2834640" cy="987552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68268"/>
            <a:ext cx="2834640" cy="457200"/>
          </a:xfrm>
          <a:prstGeom prst="rect">
            <a:avLst/>
          </a:prstGeom>
          <a:solidFill>
            <a:srgbClr val="2E3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66826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bg1"/>
                </a:solidFill>
              </a:rPr>
              <a:t>🧾 Audit Logs</a:t>
            </a:r>
          </a:p>
        </p:txBody>
      </p:sp>
      <p:sp>
        <p:nvSpPr>
          <p:cNvPr id="23" name="Text 21"/>
          <p:cNvSpPr/>
          <p:nvPr/>
        </p:nvSpPr>
        <p:spPr>
          <a:xfrm>
            <a:off x="384048" y="4198620"/>
            <a:ext cx="2615184" cy="391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Track all important system activities with timestamps.</a:t>
            </a:r>
          </a:p>
        </p:txBody>
      </p:sp>
      <p:sp>
        <p:nvSpPr>
          <p:cNvPr id="24" name="Shape 22"/>
          <p:cNvSpPr/>
          <p:nvPr/>
        </p:nvSpPr>
        <p:spPr>
          <a:xfrm>
            <a:off x="3238500" y="3662934"/>
            <a:ext cx="2834640" cy="987552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38500" y="3662934"/>
            <a:ext cx="2834640" cy="4572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48228" y="3662934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chemeClr val="bg1"/>
                </a:solidFill>
              </a:rPr>
              <a:t>👥 Manage Users</a:t>
            </a:r>
          </a:p>
        </p:txBody>
      </p:sp>
      <p:sp>
        <p:nvSpPr>
          <p:cNvPr id="27" name="Text 25"/>
          <p:cNvSpPr/>
          <p:nvPr/>
        </p:nvSpPr>
        <p:spPr>
          <a:xfrm>
            <a:off x="3348228" y="4193286"/>
            <a:ext cx="2615184" cy="391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Add, delete, and manage user accounts securely.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F22213F-2369-C390-A311-8C4F1E33D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12" y="923544"/>
            <a:ext cx="2804443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5240"/>
            <a:ext cx="9144000" cy="822960"/>
          </a:xfrm>
          <a:prstGeom prst="rect">
            <a:avLst/>
          </a:prstGeom>
          <a:solidFill>
            <a:srgbClr val="2E3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</a:t>
            </a:r>
            <a:r>
              <a:rPr lang="en-US" sz="2400" b="1" dirty="0">
                <a:solidFill>
                  <a:schemeClr val="bg1"/>
                </a:solidFill>
                <a:latin typeface="Georgia" panose="02040502050405020303" pitchFamily="18" charset="0"/>
              </a:rPr>
              <a:t>Data Storage &amp; Persistence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1318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50292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058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users.txt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776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Stores: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flipH="1">
            <a:off x="-609601" y="2816353"/>
            <a:ext cx="118532" cy="502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85648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Points: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216017"/>
            <a:ext cx="91440" cy="914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149089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Role-based access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3507103"/>
            <a:ext cx="91440" cy="914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443095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Loaded at startup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809615"/>
            <a:ext cx="91440" cy="914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724400"/>
            <a:ext cx="2377440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Saved after changes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050204"/>
            <a:ext cx="2834640" cy="31043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27832" y="1005840"/>
            <a:ext cx="2834640" cy="502920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10058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complaints.txt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-333756" y="1440180"/>
            <a:ext cx="45719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81344" y="1005840"/>
            <a:ext cx="2834640" cy="3148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81344" y="1005840"/>
            <a:ext cx="2834640" cy="50292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91072" y="100584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audit.txt</a:t>
            </a:r>
            <a:endParaRPr lang="en-US" sz="14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F5EA9D08-8223-F76E-AFAD-6D50E121AA91}"/>
              </a:ext>
            </a:extLst>
          </p:cNvPr>
          <p:cNvSpPr/>
          <p:nvPr/>
        </p:nvSpPr>
        <p:spPr>
          <a:xfrm>
            <a:off x="594360" y="2026115"/>
            <a:ext cx="91440" cy="914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58168F6B-6E22-E3B2-0982-8CE8C20EAFB8}"/>
              </a:ext>
            </a:extLst>
          </p:cNvPr>
          <p:cNvSpPr/>
          <p:nvPr/>
        </p:nvSpPr>
        <p:spPr>
          <a:xfrm>
            <a:off x="645160" y="1945129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username</a:t>
            </a:r>
            <a:endParaRPr lang="en-US" sz="950" dirty="0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4DEEE2B3-AF43-291F-1AEE-259CBBCCF24B}"/>
              </a:ext>
            </a:extLst>
          </p:cNvPr>
          <p:cNvSpPr/>
          <p:nvPr/>
        </p:nvSpPr>
        <p:spPr>
          <a:xfrm>
            <a:off x="645160" y="2239135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password</a:t>
            </a:r>
            <a:endParaRPr lang="en-US" sz="95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4ED175C3-1972-00C0-541A-03838B03461C}"/>
              </a:ext>
            </a:extLst>
          </p:cNvPr>
          <p:cNvSpPr/>
          <p:nvPr/>
        </p:nvSpPr>
        <p:spPr>
          <a:xfrm>
            <a:off x="645160" y="2520440"/>
            <a:ext cx="2377440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role</a:t>
            </a:r>
            <a:endParaRPr lang="en-US" sz="950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EB47C0C9-4765-68DB-C834-D81DB3D3D86D}"/>
              </a:ext>
            </a:extLst>
          </p:cNvPr>
          <p:cNvSpPr/>
          <p:nvPr/>
        </p:nvSpPr>
        <p:spPr>
          <a:xfrm>
            <a:off x="594360" y="2321558"/>
            <a:ext cx="91440" cy="914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DEB8F00B-36BA-B0A5-D28E-DC850037024F}"/>
              </a:ext>
            </a:extLst>
          </p:cNvPr>
          <p:cNvSpPr/>
          <p:nvPr/>
        </p:nvSpPr>
        <p:spPr>
          <a:xfrm>
            <a:off x="599440" y="2607391"/>
            <a:ext cx="91440" cy="91440"/>
          </a:xfrm>
          <a:prstGeom prst="ellipse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E6A05149-8A97-278B-7E72-3025778F9D3A}"/>
              </a:ext>
            </a:extLst>
          </p:cNvPr>
          <p:cNvSpPr/>
          <p:nvPr/>
        </p:nvSpPr>
        <p:spPr>
          <a:xfrm>
            <a:off x="3570732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Stores:</a:t>
            </a:r>
            <a:endParaRPr lang="en-US" sz="100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B0AFECC4-D9DB-87AC-DD97-0AED17C4BAA7}"/>
              </a:ext>
            </a:extLst>
          </p:cNvPr>
          <p:cNvSpPr/>
          <p:nvPr/>
        </p:nvSpPr>
        <p:spPr>
          <a:xfrm>
            <a:off x="3570732" y="2816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Points:</a:t>
            </a:r>
            <a:endParaRPr lang="en-US" sz="100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9A79C237-2B38-2ADF-7BB6-21DEAD2652E8}"/>
              </a:ext>
            </a:extLst>
          </p:cNvPr>
          <p:cNvSpPr/>
          <p:nvPr/>
        </p:nvSpPr>
        <p:spPr>
          <a:xfrm>
            <a:off x="3707892" y="3175887"/>
            <a:ext cx="91440" cy="91440"/>
          </a:xfrm>
          <a:prstGeom prst="ellipse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5A4A023D-0FE7-2D92-4288-71907AC7FDC8}"/>
              </a:ext>
            </a:extLst>
          </p:cNvPr>
          <p:cNvSpPr/>
          <p:nvPr/>
        </p:nvSpPr>
        <p:spPr>
          <a:xfrm>
            <a:off x="3753612" y="3108959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Persistent complaint records</a:t>
            </a:r>
            <a:endParaRPr lang="en-US" sz="950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54DBB6DB-C756-F86C-0183-85E43DA18E6C}"/>
              </a:ext>
            </a:extLst>
          </p:cNvPr>
          <p:cNvSpPr/>
          <p:nvPr/>
        </p:nvSpPr>
        <p:spPr>
          <a:xfrm>
            <a:off x="3707892" y="3466973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C0AA31DF-BAB1-54CD-516C-EA29E02B650B}"/>
              </a:ext>
            </a:extLst>
          </p:cNvPr>
          <p:cNvSpPr/>
          <p:nvPr/>
        </p:nvSpPr>
        <p:spPr>
          <a:xfrm>
            <a:off x="3753612" y="3402965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Loaded into STL vectors</a:t>
            </a:r>
            <a:endParaRPr lang="en-US" sz="95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A525FB60-3DB6-BDCA-E45C-223FEEDFAA8A}"/>
              </a:ext>
            </a:extLst>
          </p:cNvPr>
          <p:cNvSpPr/>
          <p:nvPr/>
        </p:nvSpPr>
        <p:spPr>
          <a:xfrm>
            <a:off x="3707892" y="3769485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15A6347C-DF80-2CB9-5714-D6D23B81BACA}"/>
              </a:ext>
            </a:extLst>
          </p:cNvPr>
          <p:cNvSpPr/>
          <p:nvPr/>
        </p:nvSpPr>
        <p:spPr>
          <a:xfrm>
            <a:off x="3753612" y="3684270"/>
            <a:ext cx="2377440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Auto-save after updates</a:t>
            </a:r>
            <a:endParaRPr lang="en-US" sz="950" dirty="0"/>
          </a:p>
        </p:txBody>
      </p:sp>
      <p:sp>
        <p:nvSpPr>
          <p:cNvPr id="59" name="Shape 9">
            <a:extLst>
              <a:ext uri="{FF2B5EF4-FFF2-40B4-BE49-F238E27FC236}">
                <a16:creationId xmlns:a16="http://schemas.microsoft.com/office/drawing/2014/main" id="{19FE5666-2DF2-D0A8-3097-EA240350C70A}"/>
              </a:ext>
            </a:extLst>
          </p:cNvPr>
          <p:cNvSpPr/>
          <p:nvPr/>
        </p:nvSpPr>
        <p:spPr>
          <a:xfrm>
            <a:off x="3707892" y="1985985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87138E0B-56D1-B3AD-3ADD-302CC580AA85}"/>
              </a:ext>
            </a:extLst>
          </p:cNvPr>
          <p:cNvSpPr/>
          <p:nvPr/>
        </p:nvSpPr>
        <p:spPr>
          <a:xfrm>
            <a:off x="3758692" y="1904999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complaint details</a:t>
            </a:r>
            <a:endParaRPr lang="en-US" sz="9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3402FE9A-1A3F-C5E5-092E-E11DE1D8FD20}"/>
              </a:ext>
            </a:extLst>
          </p:cNvPr>
          <p:cNvSpPr/>
          <p:nvPr/>
        </p:nvSpPr>
        <p:spPr>
          <a:xfrm>
            <a:off x="3758692" y="2270968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status</a:t>
            </a:r>
            <a:endParaRPr lang="en-US" sz="950" dirty="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F9F0F565-88F6-A2B4-FBCA-C283D7F8B175}"/>
              </a:ext>
            </a:extLst>
          </p:cNvPr>
          <p:cNvSpPr/>
          <p:nvPr/>
        </p:nvSpPr>
        <p:spPr>
          <a:xfrm>
            <a:off x="3758692" y="2429510"/>
            <a:ext cx="1892808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priority</a:t>
            </a:r>
            <a:endParaRPr lang="en-US" sz="95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522CA9FC-A883-918A-BEC1-A80D3EBE4DC2}"/>
              </a:ext>
            </a:extLst>
          </p:cNvPr>
          <p:cNvSpPr/>
          <p:nvPr/>
        </p:nvSpPr>
        <p:spPr>
          <a:xfrm>
            <a:off x="3707892" y="2336459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9">
            <a:extLst>
              <a:ext uri="{FF2B5EF4-FFF2-40B4-BE49-F238E27FC236}">
                <a16:creationId xmlns:a16="http://schemas.microsoft.com/office/drawing/2014/main" id="{C2BAD9A8-C924-5882-C2A8-98893A0033EF}"/>
              </a:ext>
            </a:extLst>
          </p:cNvPr>
          <p:cNvSpPr/>
          <p:nvPr/>
        </p:nvSpPr>
        <p:spPr>
          <a:xfrm>
            <a:off x="3712972" y="2516461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62EE36AD-0F12-66F5-CD69-F3C477BF72FA}"/>
              </a:ext>
            </a:extLst>
          </p:cNvPr>
          <p:cNvSpPr/>
          <p:nvPr/>
        </p:nvSpPr>
        <p:spPr>
          <a:xfrm>
            <a:off x="6438392" y="162204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Stores:</a:t>
            </a:r>
            <a:endParaRPr lang="en-US" sz="1000" dirty="0"/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B7419E42-65AB-818D-52B1-E52CEB3FE8DC}"/>
              </a:ext>
            </a:extLst>
          </p:cNvPr>
          <p:cNvSpPr/>
          <p:nvPr/>
        </p:nvSpPr>
        <p:spPr>
          <a:xfrm>
            <a:off x="6438392" y="281076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Points:</a:t>
            </a:r>
            <a:endParaRPr lang="en-US" sz="1000" dirty="0"/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A20390D6-1E7D-A81F-2390-E6C0333AD982}"/>
              </a:ext>
            </a:extLst>
          </p:cNvPr>
          <p:cNvSpPr/>
          <p:nvPr/>
        </p:nvSpPr>
        <p:spPr>
          <a:xfrm>
            <a:off x="6575552" y="3170297"/>
            <a:ext cx="91440" cy="914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632DA660-271E-0945-4E2B-650501EBD56E}"/>
              </a:ext>
            </a:extLst>
          </p:cNvPr>
          <p:cNvSpPr/>
          <p:nvPr/>
        </p:nvSpPr>
        <p:spPr>
          <a:xfrm>
            <a:off x="6621272" y="3103369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Activity tracking</a:t>
            </a:r>
            <a:endParaRPr lang="en-US" sz="950" dirty="0"/>
          </a:p>
        </p:txBody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614AD148-5B6C-FD0A-CD91-32DB938987E1}"/>
              </a:ext>
            </a:extLst>
          </p:cNvPr>
          <p:cNvSpPr/>
          <p:nvPr/>
        </p:nvSpPr>
        <p:spPr>
          <a:xfrm>
            <a:off x="6575552" y="3461383"/>
            <a:ext cx="91440" cy="914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5762CCEC-4203-54BB-BF68-582D38DEFAA4}"/>
              </a:ext>
            </a:extLst>
          </p:cNvPr>
          <p:cNvSpPr/>
          <p:nvPr/>
        </p:nvSpPr>
        <p:spPr>
          <a:xfrm>
            <a:off x="6621272" y="3397375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Append-only logging</a:t>
            </a:r>
            <a:endParaRPr lang="en-US" sz="950" dirty="0"/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EF0B6FBB-5B58-A316-2F60-0A6C16DEEBA4}"/>
              </a:ext>
            </a:extLst>
          </p:cNvPr>
          <p:cNvSpPr/>
          <p:nvPr/>
        </p:nvSpPr>
        <p:spPr>
          <a:xfrm>
            <a:off x="6575552" y="3763895"/>
            <a:ext cx="91440" cy="914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23B9D0EE-F80D-40C6-FC9A-BFB35AAE09AE}"/>
              </a:ext>
            </a:extLst>
          </p:cNvPr>
          <p:cNvSpPr/>
          <p:nvPr/>
        </p:nvSpPr>
        <p:spPr>
          <a:xfrm>
            <a:off x="6621272" y="3678680"/>
            <a:ext cx="2377440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Security accountability</a:t>
            </a:r>
            <a:endParaRPr lang="en-US" sz="950" dirty="0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240442A5-7828-BFF8-5CA0-04E2CE46CB16}"/>
              </a:ext>
            </a:extLst>
          </p:cNvPr>
          <p:cNvSpPr/>
          <p:nvPr/>
        </p:nvSpPr>
        <p:spPr>
          <a:xfrm>
            <a:off x="6575552" y="1980395"/>
            <a:ext cx="91440" cy="914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FF1231F7-E86B-EE2C-955F-D2F6444540CA}"/>
              </a:ext>
            </a:extLst>
          </p:cNvPr>
          <p:cNvSpPr/>
          <p:nvPr/>
        </p:nvSpPr>
        <p:spPr>
          <a:xfrm>
            <a:off x="6626352" y="1899409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timestamps</a:t>
            </a:r>
            <a:endParaRPr lang="en-US" sz="950" dirty="0"/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B4C02982-1B9D-1B7B-479C-E7582A65FF4E}"/>
              </a:ext>
            </a:extLst>
          </p:cNvPr>
          <p:cNvSpPr/>
          <p:nvPr/>
        </p:nvSpPr>
        <p:spPr>
          <a:xfrm>
            <a:off x="6626352" y="2193415"/>
            <a:ext cx="2350008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actors</a:t>
            </a:r>
            <a:endParaRPr lang="en-US" sz="950" dirty="0"/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2BC149A8-1008-8B14-0C2E-2D1358C78DC2}"/>
              </a:ext>
            </a:extLst>
          </p:cNvPr>
          <p:cNvSpPr/>
          <p:nvPr/>
        </p:nvSpPr>
        <p:spPr>
          <a:xfrm>
            <a:off x="6626352" y="2474720"/>
            <a:ext cx="2377440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actions</a:t>
            </a:r>
            <a:endParaRPr lang="en-US" sz="950" dirty="0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39986D82-B28E-A614-9B11-A4AFA051F428}"/>
              </a:ext>
            </a:extLst>
          </p:cNvPr>
          <p:cNvSpPr/>
          <p:nvPr/>
        </p:nvSpPr>
        <p:spPr>
          <a:xfrm>
            <a:off x="6575552" y="2275838"/>
            <a:ext cx="91440" cy="914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46791AED-74F7-F282-3E7D-962739201161}"/>
              </a:ext>
            </a:extLst>
          </p:cNvPr>
          <p:cNvSpPr/>
          <p:nvPr/>
        </p:nvSpPr>
        <p:spPr>
          <a:xfrm>
            <a:off x="6580632" y="2561671"/>
            <a:ext cx="91440" cy="914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14">
            <a:extLst>
              <a:ext uri="{FF2B5EF4-FFF2-40B4-BE49-F238E27FC236}">
                <a16:creationId xmlns:a16="http://schemas.microsoft.com/office/drawing/2014/main" id="{45311C0C-B42A-6734-D348-2AE8823ADAD2}"/>
              </a:ext>
            </a:extLst>
          </p:cNvPr>
          <p:cNvSpPr/>
          <p:nvPr/>
        </p:nvSpPr>
        <p:spPr>
          <a:xfrm>
            <a:off x="3753612" y="2602309"/>
            <a:ext cx="1892808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Admin notes</a:t>
            </a:r>
            <a:endParaRPr lang="en-US" sz="950" dirty="0"/>
          </a:p>
        </p:txBody>
      </p:sp>
      <p:sp>
        <p:nvSpPr>
          <p:cNvPr id="80" name="Shape 9">
            <a:extLst>
              <a:ext uri="{FF2B5EF4-FFF2-40B4-BE49-F238E27FC236}">
                <a16:creationId xmlns:a16="http://schemas.microsoft.com/office/drawing/2014/main" id="{ACF6A059-F524-C4A4-B42D-3828D663FDD9}"/>
              </a:ext>
            </a:extLst>
          </p:cNvPr>
          <p:cNvSpPr/>
          <p:nvPr/>
        </p:nvSpPr>
        <p:spPr>
          <a:xfrm>
            <a:off x="3707892" y="2689260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14">
            <a:extLst>
              <a:ext uri="{FF2B5EF4-FFF2-40B4-BE49-F238E27FC236}">
                <a16:creationId xmlns:a16="http://schemas.microsoft.com/office/drawing/2014/main" id="{AA25ACF2-E3B7-0439-EE61-4CAC63564FD4}"/>
              </a:ext>
            </a:extLst>
          </p:cNvPr>
          <p:cNvSpPr/>
          <p:nvPr/>
        </p:nvSpPr>
        <p:spPr>
          <a:xfrm>
            <a:off x="3758692" y="2069739"/>
            <a:ext cx="1892808" cy="24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timestamps</a:t>
            </a:r>
            <a:endParaRPr lang="en-US" sz="950" dirty="0"/>
          </a:p>
        </p:txBody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E90BA80A-7C8C-21A5-9780-B330DCD0F58A}"/>
              </a:ext>
            </a:extLst>
          </p:cNvPr>
          <p:cNvSpPr/>
          <p:nvPr/>
        </p:nvSpPr>
        <p:spPr>
          <a:xfrm>
            <a:off x="3712972" y="2156690"/>
            <a:ext cx="91440" cy="9144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6FEA73-C7CF-BE46-5760-A572BBFA7C2C}"/>
              </a:ext>
            </a:extLst>
          </p:cNvPr>
          <p:cNvSpPr txBox="1"/>
          <p:nvPr/>
        </p:nvSpPr>
        <p:spPr>
          <a:xfrm>
            <a:off x="1312333" y="4396743"/>
            <a:ext cx="1227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2737F0-E27D-B831-04B3-79DEE2576876}"/>
              </a:ext>
            </a:extLst>
          </p:cNvPr>
          <p:cNvSpPr txBox="1"/>
          <p:nvPr/>
        </p:nvSpPr>
        <p:spPr>
          <a:xfrm>
            <a:off x="3344333" y="4396743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Handling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98C87F-D194-A2BF-5CB6-091E951D6846}"/>
              </a:ext>
            </a:extLst>
          </p:cNvPr>
          <p:cNvSpPr txBox="1"/>
          <p:nvPr/>
        </p:nvSpPr>
        <p:spPr>
          <a:xfrm>
            <a:off x="5347377" y="4397050"/>
            <a:ext cx="386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Users.txt/ complaint.txt/ audit.txt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B5CD7FB-24C5-4E28-52A4-3C3C78653489}"/>
              </a:ext>
            </a:extLst>
          </p:cNvPr>
          <p:cNvCxnSpPr>
            <a:stCxn id="83" idx="3"/>
            <a:endCxn id="84" idx="1"/>
          </p:cNvCxnSpPr>
          <p:nvPr/>
        </p:nvCxnSpPr>
        <p:spPr>
          <a:xfrm>
            <a:off x="2540000" y="4581409"/>
            <a:ext cx="804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780EDB7-3984-75F4-1A2B-9272EB1E4952}"/>
              </a:ext>
            </a:extLst>
          </p:cNvPr>
          <p:cNvCxnSpPr>
            <a:stCxn id="84" idx="3"/>
            <a:endCxn id="85" idx="1"/>
          </p:cNvCxnSpPr>
          <p:nvPr/>
        </p:nvCxnSpPr>
        <p:spPr>
          <a:xfrm>
            <a:off x="4876800" y="4581409"/>
            <a:ext cx="470577" cy="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System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325880" cy="50292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481328"/>
            <a:ext cx="1325880" cy="210312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System Launch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1143000" cy="0"/>
          </a:xfrm>
          <a:prstGeom prst="line">
            <a:avLst/>
          </a:prstGeom>
          <a:noFill/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" y="2057400"/>
            <a:ext cx="1216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First run: create admin &amp; user accounts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Subsequent: load from users.txt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2286000"/>
            <a:ext cx="91440" cy="0"/>
          </a:xfrm>
          <a:prstGeom prst="line">
            <a:avLst/>
          </a:prstGeom>
          <a:noFill/>
          <a:ln w="19050">
            <a:solidFill>
              <a:srgbClr val="6B7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00200" y="960120"/>
            <a:ext cx="1325880" cy="502920"/>
          </a:xfrm>
          <a:prstGeom prst="rect">
            <a:avLst/>
          </a:prstGeom>
          <a:solidFill>
            <a:srgbClr val="2E3F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0020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00200" y="1481328"/>
            <a:ext cx="1325880" cy="210312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4592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Login (3 attempts)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1993392"/>
            <a:ext cx="1143000" cy="0"/>
          </a:xfrm>
          <a:prstGeom prst="line">
            <a:avLst/>
          </a:prstGeom>
          <a:noFill/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55064" y="2057400"/>
            <a:ext cx="1216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Enter username &amp; password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Role detected → route to correct dashboard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0" y="2286000"/>
            <a:ext cx="91440" cy="0"/>
          </a:xfrm>
          <a:prstGeom prst="line">
            <a:avLst/>
          </a:prstGeom>
          <a:noFill/>
          <a:ln w="19050">
            <a:solidFill>
              <a:srgbClr val="6B7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17520" y="960120"/>
            <a:ext cx="1325880" cy="502920"/>
          </a:xfrm>
          <a:prstGeom prst="rect">
            <a:avLst/>
          </a:prstGeom>
          <a:solidFill>
            <a:srgbClr val="3CB3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1481328"/>
            <a:ext cx="1325880" cy="210312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6324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User Files Complaint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1993392"/>
            <a:ext cx="1143000" cy="0"/>
          </a:xfrm>
          <a:prstGeom prst="line">
            <a:avLst/>
          </a:prstGeom>
          <a:noFill/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72384" y="2057400"/>
            <a:ext cx="1216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Pick category, priority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Enter description → CMS-XXXX issued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43400" y="2286000"/>
            <a:ext cx="91440" cy="0"/>
          </a:xfrm>
          <a:prstGeom prst="line">
            <a:avLst/>
          </a:prstGeom>
          <a:noFill/>
          <a:ln w="19050">
            <a:solidFill>
              <a:srgbClr val="6B7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34840" y="960120"/>
            <a:ext cx="1325880" cy="502920"/>
          </a:xfrm>
          <a:prstGeom prst="rect">
            <a:avLst/>
          </a:prstGeom>
          <a:solidFill>
            <a:srgbClr val="F5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1481328"/>
            <a:ext cx="1325880" cy="210312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8056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Admin Reviews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1993392"/>
            <a:ext cx="1143000" cy="0"/>
          </a:xfrm>
          <a:prstGeom prst="line">
            <a:avLst/>
          </a:prstGeom>
          <a:noFill/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9704" y="2057400"/>
            <a:ext cx="1216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Confirm or Reject with note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Action logged to audit.txt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2286000"/>
            <a:ext cx="91440" cy="0"/>
          </a:xfrm>
          <a:prstGeom prst="line">
            <a:avLst/>
          </a:prstGeom>
          <a:noFill/>
          <a:ln w="19050">
            <a:solidFill>
              <a:srgbClr val="6B7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52160" y="960120"/>
            <a:ext cx="1325880" cy="50292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5216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52160" y="1481328"/>
            <a:ext cx="1325880" cy="210312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9788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User Tracks Status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1993392"/>
            <a:ext cx="1143000" cy="0"/>
          </a:xfrm>
          <a:prstGeom prst="line">
            <a:avLst/>
          </a:prstGeom>
          <a:noFill/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07024" y="2057400"/>
            <a:ext cx="1216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Enter tracking number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See updated status + admin note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78040" y="2286000"/>
            <a:ext cx="91440" cy="0"/>
          </a:xfrm>
          <a:prstGeom prst="line">
            <a:avLst/>
          </a:prstGeom>
          <a:noFill/>
          <a:ln w="19050">
            <a:solidFill>
              <a:srgbClr val="6B7D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269480" y="960120"/>
            <a:ext cx="1325880" cy="5029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69480" y="960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269480" y="1481328"/>
            <a:ext cx="1325880" cy="2103120"/>
          </a:xfrm>
          <a:prstGeom prst="rect">
            <a:avLst/>
          </a:prstGeom>
          <a:solidFill>
            <a:srgbClr val="E8EFF9"/>
          </a:solidFill>
          <a:ln w="6350">
            <a:solidFill>
              <a:srgbClr val="D0D9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Logout / Re-login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60920" y="1993392"/>
            <a:ext cx="1143000" cy="0"/>
          </a:xfrm>
          <a:prstGeom prst="line">
            <a:avLst/>
          </a:prstGeom>
          <a:noFill/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24344" y="2057400"/>
            <a:ext cx="1216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Session ends cleanly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</a:rPr>
              <a:t>All data persisted to files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749040"/>
            <a:ext cx="8412480" cy="59436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Every action that modifies data triggers a saveComplaints() / saveUsers() call and a log() entry — ensuring zero data loss between sessions.</a:t>
            </a:r>
            <a:endParaRPr lang="en-US" sz="10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F125326-9F71-F516-70AB-606D6E55F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786"/>
            <a:ext cx="9144000" cy="4386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4F8F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060" y="1981200"/>
            <a:ext cx="29641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06113" y="2857500"/>
            <a:ext cx="2555327" cy="0"/>
          </a:xfrm>
          <a:prstGeom prst="line">
            <a:avLst/>
          </a:prstGeom>
          <a:noFill/>
          <a:ln w="25400">
            <a:solidFill>
              <a:srgbClr val="4F8F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Text 15"/>
          <p:cNvSpPr/>
          <p:nvPr/>
        </p:nvSpPr>
        <p:spPr>
          <a:xfrm>
            <a:off x="3474720" y="914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Management System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74720" y="1554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A fully functional, OOP-designed C++ application demonstrating real-world software concepts including role-based authentication, persistent storage, audit trails, and a clean console UI.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0" y="2743200"/>
            <a:ext cx="1645920" cy="457200"/>
          </a:xfrm>
          <a:prstGeom prst="rect">
            <a:avLst/>
          </a:prstGeom>
          <a:solidFill>
            <a:srgbClr val="4F8FE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Role-Based Login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7800" y="2743200"/>
            <a:ext cx="1645920" cy="457200"/>
          </a:xfrm>
          <a:prstGeom prst="rect">
            <a:avLst/>
          </a:prstGeom>
          <a:solidFill>
            <a:srgbClr val="3CB37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Complaint Lifecycle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40880" y="2743200"/>
            <a:ext cx="1645920" cy="457200"/>
          </a:xfrm>
          <a:prstGeom prst="rect">
            <a:avLst/>
          </a:prstGeom>
          <a:solidFill>
            <a:srgbClr val="F5C842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File Persistence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3337560"/>
            <a:ext cx="1645920" cy="457200"/>
          </a:xfrm>
          <a:prstGeom prst="rect">
            <a:avLst/>
          </a:prstGeom>
          <a:solidFill>
            <a:srgbClr val="E0505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 Logging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57800" y="3337560"/>
            <a:ext cx="1645920" cy="457200"/>
          </a:xfrm>
          <a:prstGeom prst="rect">
            <a:avLst/>
          </a:prstGeom>
          <a:solidFill>
            <a:srgbClr val="2E3F7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578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Priority &amp; Category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40880" y="3337560"/>
            <a:ext cx="1645920" cy="457200"/>
          </a:xfrm>
          <a:prstGeom prst="rect">
            <a:avLst/>
          </a:prstGeom>
          <a:solidFill>
            <a:srgbClr val="9B59B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088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Admin Management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4206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Please no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827</Words>
  <Application>Microsoft Office PowerPoint</Application>
  <PresentationFormat>On-screen Show (16:9)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Complaint Management System - OOP Project</dc:title>
  <dc:subject>PptxGenJS Presentation</dc:subject>
  <dc:creator>PptxGenJS</dc:creator>
  <cp:lastModifiedBy>09-131252-049</cp:lastModifiedBy>
  <cp:revision>2</cp:revision>
  <dcterms:created xsi:type="dcterms:W3CDTF">2026-05-19T10:13:34Z</dcterms:created>
  <dcterms:modified xsi:type="dcterms:W3CDTF">2026-05-20T06:43:20Z</dcterms:modified>
</cp:coreProperties>
</file>